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6" r:id="rId3"/>
    <p:sldId id="259" r:id="rId4"/>
    <p:sldId id="261" r:id="rId5"/>
    <p:sldId id="260" r:id="rId6"/>
    <p:sldId id="265" r:id="rId7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CDAA"/>
    <a:srgbClr val="C9B3E3"/>
    <a:srgbClr val="A6A6A6"/>
    <a:srgbClr val="4B7B5A"/>
    <a:srgbClr val="2E5D4E"/>
    <a:srgbClr val="5A7D9A"/>
    <a:srgbClr val="1F4E79"/>
    <a:srgbClr val="ED7D31"/>
    <a:srgbClr val="5D6D7E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310A8-F34D-6BBF-4C5E-710F20CE13C3}" v="162" dt="2025-08-23T04:31:05.889"/>
    <p1510:client id="{5000596B-66ED-410A-9F42-D8886A5903CD}" v="496" dt="2025-08-23T04:26:04.955"/>
    <p1510:client id="{72D55396-44A0-F6E1-C610-27001EE1444D}" v="37" dt="2025-08-23T04:09:35.565"/>
    <p1510:client id="{DFDF3C78-6389-D537-1850-CA096FE3DBE1}" v="6" vWet="7" dt="2025-08-23T04:10:26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braham.anzules\Downloads\Semana3_Grupo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morales\Downloads\Semana3_Grupo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braham.anzules\Downloads\Semana3_Grupo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[Semana3_Grupo6.xlsx]Gráfico 1!TablaDinámica1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320" b="1" i="0" u="none" strike="noStrike" kern="1200" spc="0" baseline="0">
                <a:solidFill>
                  <a:schemeClr val="dk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EC" sz="1400" b="1">
                <a:solidFill>
                  <a:schemeClr val="dk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Total de Ventas por Región</a:t>
            </a:r>
            <a:endParaRPr 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20" b="1" i="0" u="none" strike="noStrike" kern="1200" spc="0" baseline="0">
              <a:solidFill>
                <a:schemeClr val="dk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094987510174782"/>
          <c:y val="0.11580948891000156"/>
          <c:w val="0.74454272071306726"/>
          <c:h val="0.780671109283447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'Gráfico 1'!$C$4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54D-46BA-AEAC-6882A1C5B0E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4D-46BA-AEAC-6882A1C5B0ED}"/>
              </c:ext>
            </c:extLst>
          </c:dPt>
          <c:dPt>
            <c:idx val="2"/>
            <c:invertIfNegative val="0"/>
            <c:bubble3D val="0"/>
            <c:spPr>
              <a:solidFill>
                <a:srgbClr val="B0C4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4D-46BA-AEAC-6882A1C5B0ED}"/>
              </c:ext>
            </c:extLst>
          </c:dPt>
          <c:dLbls>
            <c:numFmt formatCode="_(&quot;$&quot;* #,##0.00_);_(&quot;$&quot;* \(#,##0.00\);_(&quot;$&quot;* &quot;-&quot;??_);_(@_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.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'Gráfico 1'!$B$5:$B$8</c:f>
              <c:strCache>
                <c:ptCount val="3"/>
                <c:pt idx="0">
                  <c:v>Alentejo</c:v>
                </c:pt>
                <c:pt idx="1">
                  <c:v>Algarve</c:v>
                </c:pt>
                <c:pt idx="2">
                  <c:v>Centro</c:v>
                </c:pt>
              </c:strCache>
            </c:strRef>
          </c:cat>
          <c:val>
            <c:numRef>
              <c:f>'Gráfico 1'!$C$5:$C$8</c:f>
              <c:numCache>
                <c:formatCode>"$"#,##0.00</c:formatCode>
                <c:ptCount val="3"/>
                <c:pt idx="0">
                  <c:v>101653123.50000013</c:v>
                </c:pt>
                <c:pt idx="1">
                  <c:v>101176593.32000007</c:v>
                </c:pt>
                <c:pt idx="2">
                  <c:v>302275269.49999928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4D-46BA-AEAC-6882A1C5B0E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1599872"/>
        <c:axId val="181600264"/>
      </c:barChart>
      <c:catAx>
        <c:axId val="181599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>
            <a:innerShdw blurRad="63500" dist="50800" dir="13500000">
              <a:schemeClr val="accent1">
                <a:alpha val="50000"/>
              </a:schemeClr>
            </a:innerShdw>
          </a:effectLst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EC"/>
          </a:p>
        </c:txPr>
        <c:crossAx val="181600264"/>
        <c:crosses val="autoZero"/>
        <c:auto val="1"/>
        <c:lblAlgn val="ctr"/>
        <c:lblOffset val="100"/>
        <c:noMultiLvlLbl val="0"/>
      </c:catAx>
      <c:valAx>
        <c:axId val="181600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EC"/>
          </a:p>
        </c:txPr>
        <c:crossAx val="181599872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3.6163611663329709E-2"/>
                <c:y val="0.4044380890827009"/>
              </c:manualLayout>
            </c:layout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r>
                    <a:rPr lang="es-EC" b="1">
                      <a:solidFill>
                        <a:srgbClr val="FF0000"/>
                      </a:solidFill>
                    </a:rPr>
                    <a:t>[1]</a:t>
                  </a:r>
                  <a:r>
                    <a:rPr lang="es-EC"/>
                    <a:t> Ventas en Millones</a:t>
                  </a:r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EC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012381973220513"/>
          <c:y val="0.42141770175557747"/>
          <c:w val="8.2946734844407122E-2"/>
          <c:h val="0.171796834243723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EC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EC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[Semana3_Grupo6.xlsx]TablaDinámica 3!TablaDinámica7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/>
              <a:t>Top Five</a:t>
            </a:r>
            <a:r>
              <a:rPr lang="en-US" b="1" baseline="0"/>
              <a:t> -</a:t>
            </a:r>
            <a:r>
              <a:rPr lang="en-US" b="1"/>
              <a:t> </a:t>
            </a:r>
            <a:r>
              <a:rPr lang="en-US" b="1" err="1"/>
              <a:t>Productos</a:t>
            </a:r>
            <a:r>
              <a:rPr lang="en-US" b="1"/>
              <a:t> </a:t>
            </a:r>
            <a:r>
              <a:rPr lang="en-US" b="1" err="1"/>
              <a:t>más</a:t>
            </a:r>
            <a:r>
              <a:rPr lang="en-US" b="1"/>
              <a:t> </a:t>
            </a:r>
            <a:r>
              <a:rPr lang="en-US" b="1" err="1"/>
              <a:t>Devueltos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'TablaDinámica 3'!$C$4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DB9-43EB-90B9-83CA19144F1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DB9-43EB-90B9-83CA19144F1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DB9-43EB-90B9-83CA19144F1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3DB9-43EB-90B9-83CA19144F1F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DB9-43EB-90B9-83CA19144F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'TablaDinámica 3'!$B$5:$B$10</c:f>
              <c:strCache>
                <c:ptCount val="5"/>
                <c:pt idx="0">
                  <c:v>Modi</c:v>
                </c:pt>
                <c:pt idx="1">
                  <c:v>Iste</c:v>
                </c:pt>
                <c:pt idx="2">
                  <c:v>Eius</c:v>
                </c:pt>
                <c:pt idx="3">
                  <c:v>Accusantium</c:v>
                </c:pt>
                <c:pt idx="4">
                  <c:v>Voluptate</c:v>
                </c:pt>
              </c:strCache>
            </c:strRef>
          </c:cat>
          <c:val>
            <c:numRef>
              <c:f>'TablaDinámica 3'!$C$5:$C$10</c:f>
              <c:numCache>
                <c:formatCode>0</c:formatCode>
                <c:ptCount val="5"/>
                <c:pt idx="0">
                  <c:v>54</c:v>
                </c:pt>
                <c:pt idx="1">
                  <c:v>43</c:v>
                </c:pt>
                <c:pt idx="2">
                  <c:v>42</c:v>
                </c:pt>
                <c:pt idx="3">
                  <c:v>41</c:v>
                </c:pt>
                <c:pt idx="4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B9-43EB-90B9-83CA19144F1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441844656"/>
        <c:axId val="441840336"/>
      </c:barChart>
      <c:catAx>
        <c:axId val="44184465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s-EC">
                    <a:solidFill>
                      <a:schemeClr val="tx1"/>
                    </a:solidFill>
                  </a:rPr>
                  <a:t>Productos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s-EC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EC"/>
          </a:p>
        </c:txPr>
        <c:crossAx val="441840336"/>
        <c:crosses val="autoZero"/>
        <c:auto val="1"/>
        <c:lblAlgn val="ctr"/>
        <c:lblOffset val="100"/>
        <c:noMultiLvlLbl val="0"/>
      </c:catAx>
      <c:valAx>
        <c:axId val="4418403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s-EC">
                    <a:solidFill>
                      <a:schemeClr val="tx1"/>
                    </a:solidFill>
                  </a:rPr>
                  <a:t>Cantidad de devoluciones</a:t>
                </a:r>
              </a:p>
            </c:rich>
          </c:tx>
          <c:layout>
            <c:manualLayout>
              <c:xMode val="edge"/>
              <c:yMode val="edge"/>
              <c:x val="0.42007886839408576"/>
              <c:y val="0.940951359084406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s-EC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EC"/>
          </a:p>
        </c:txPr>
        <c:crossAx val="441844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EC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EC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[Semana3_Grupo6.xlsx]Gráfico 2!TablaDinámica2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 err="1"/>
              <a:t>Distribución</a:t>
            </a:r>
            <a:r>
              <a:rPr lang="en-US" b="1"/>
              <a:t> de </a:t>
            </a:r>
            <a:br>
              <a:rPr lang="en-US" b="1"/>
            </a:br>
            <a:r>
              <a:rPr lang="en-US" b="1" err="1"/>
              <a:t>Devoluciones</a:t>
            </a:r>
            <a:r>
              <a:rPr lang="en-US" b="1"/>
              <a:t> </a:t>
            </a:r>
            <a:r>
              <a:rPr lang="en-US" b="1" err="1"/>
              <a:t>por</a:t>
            </a:r>
            <a:r>
              <a:rPr lang="en-US" b="1"/>
              <a:t> </a:t>
            </a:r>
            <a:r>
              <a:rPr lang="en-US" b="1" err="1"/>
              <a:t>Motivo</a:t>
            </a:r>
            <a:endParaRPr lang="en-US" b="1"/>
          </a:p>
        </c:rich>
      </c:tx>
      <c:layout>
        <c:manualLayout>
          <c:xMode val="edge"/>
          <c:yMode val="edge"/>
          <c:x val="0.39863544716887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ln>
                    <a:noFill/>
                  </a:ln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</c:spPr>
      </c:pivotFmt>
      <c:pivotFmt>
        <c:idx val="3"/>
        <c:spPr>
          <a:solidFill>
            <a:schemeClr val="accent4"/>
          </a:solidFill>
          <a:ln>
            <a:noFill/>
          </a:ln>
          <a:effectLst/>
        </c:spPr>
      </c:pivotFmt>
      <c:pivotFmt>
        <c:idx val="4"/>
        <c:spPr>
          <a:solidFill>
            <a:schemeClr val="accent4"/>
          </a:solidFill>
          <a:ln>
            <a:noFill/>
          </a:ln>
          <a:effectLst/>
        </c:spPr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</c:pivotFmt>
      <c:pivotFmt>
        <c:idx val="6"/>
        <c:spPr>
          <a:solidFill>
            <a:schemeClr val="accent4"/>
          </a:solidFill>
          <a:ln>
            <a:noFill/>
          </a:ln>
          <a:effectLst/>
        </c:spPr>
      </c:pivotFmt>
      <c:pivotFmt>
        <c:idx val="7"/>
        <c:spPr>
          <a:solidFill>
            <a:schemeClr val="accent4"/>
          </a:solidFill>
          <a:ln>
            <a:noFill/>
          </a:ln>
          <a:effectLst/>
        </c:spPr>
      </c:pivotFmt>
      <c:pivotFmt>
        <c:idx val="8"/>
        <c:spPr>
          <a:solidFill>
            <a:schemeClr val="accent4"/>
          </a:solidFill>
          <a:ln>
            <a:noFill/>
          </a:ln>
          <a:effectLst/>
        </c:spPr>
      </c:pivotFmt>
      <c:pivotFmt>
        <c:idx val="9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ln>
                    <a:noFill/>
                  </a:ln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4"/>
          </a:solidFill>
          <a:ln>
            <a:noFill/>
          </a:ln>
          <a:effectLst/>
        </c:spPr>
      </c:pivotFmt>
      <c:pivotFmt>
        <c:idx val="11"/>
        <c:spPr>
          <a:solidFill>
            <a:schemeClr val="accent4"/>
          </a:solidFill>
          <a:ln>
            <a:noFill/>
          </a:ln>
          <a:effectLst/>
        </c:spPr>
      </c:pivotFmt>
      <c:pivotFmt>
        <c:idx val="12"/>
        <c:spPr>
          <a:solidFill>
            <a:schemeClr val="accent4"/>
          </a:solidFill>
          <a:ln>
            <a:noFill/>
          </a:ln>
          <a:effectLst/>
        </c:spPr>
      </c:pivotFmt>
      <c:pivotFmt>
        <c:idx val="13"/>
        <c:spPr>
          <a:solidFill>
            <a:schemeClr val="accent4"/>
          </a:solidFill>
          <a:ln>
            <a:noFill/>
          </a:ln>
          <a:effectLst/>
        </c:spPr>
      </c:pivotFmt>
      <c:pivotFmt>
        <c:idx val="14"/>
        <c:spPr>
          <a:solidFill>
            <a:schemeClr val="accent4"/>
          </a:solidFill>
          <a:ln>
            <a:noFill/>
          </a:ln>
          <a:effectLst/>
        </c:spPr>
      </c:pivotFmt>
      <c:pivotFmt>
        <c:idx val="15"/>
        <c:spPr>
          <a:solidFill>
            <a:schemeClr val="accent4"/>
          </a:solidFill>
          <a:ln>
            <a:noFill/>
          </a:ln>
          <a:effectLst/>
        </c:spPr>
      </c:pivotFmt>
      <c:pivotFmt>
        <c:idx val="16"/>
        <c:spPr>
          <a:solidFill>
            <a:schemeClr val="accent4"/>
          </a:solidFill>
          <a:ln>
            <a:noFill/>
          </a:ln>
          <a:effectLst/>
        </c:spPr>
      </c:pivotFmt>
      <c:pivotFmt>
        <c:idx val="17"/>
        <c:spPr>
          <a:solidFill>
            <a:schemeClr val="accent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ln>
                    <a:noFill/>
                  </a:ln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4"/>
          </a:solidFill>
          <a:ln>
            <a:noFill/>
          </a:ln>
          <a:effectLst/>
        </c:spPr>
      </c:pivotFmt>
      <c:pivotFmt>
        <c:idx val="19"/>
        <c:spPr>
          <a:solidFill>
            <a:schemeClr val="accent4"/>
          </a:solidFill>
          <a:ln>
            <a:noFill/>
          </a:ln>
          <a:effectLst/>
        </c:spPr>
      </c:pivotFmt>
      <c:pivotFmt>
        <c:idx val="20"/>
        <c:spPr>
          <a:solidFill>
            <a:schemeClr val="accent4"/>
          </a:solidFill>
          <a:ln>
            <a:noFill/>
          </a:ln>
          <a:effectLst/>
        </c:spPr>
      </c:pivotFmt>
      <c:pivotFmt>
        <c:idx val="21"/>
        <c:spPr>
          <a:solidFill>
            <a:schemeClr val="accent4"/>
          </a:solidFill>
          <a:ln>
            <a:noFill/>
          </a:ln>
          <a:effectLst/>
        </c:spPr>
      </c:pivotFmt>
      <c:pivotFmt>
        <c:idx val="22"/>
        <c:spPr>
          <a:solidFill>
            <a:schemeClr val="accent4"/>
          </a:solidFill>
          <a:ln>
            <a:noFill/>
          </a:ln>
          <a:effectLst/>
        </c:spPr>
      </c:pivotFmt>
      <c:pivotFmt>
        <c:idx val="23"/>
        <c:spPr>
          <a:solidFill>
            <a:schemeClr val="accent4"/>
          </a:solidFill>
          <a:ln>
            <a:noFill/>
          </a:ln>
          <a:effectLst/>
        </c:spPr>
      </c:pivotFmt>
      <c:pivotFmt>
        <c:idx val="24"/>
        <c:spPr>
          <a:solidFill>
            <a:schemeClr val="accent4"/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3175729598257806"/>
          <c:y val="0.11915586231456445"/>
          <c:w val="0.34612501714658966"/>
          <c:h val="0.86344912128914875"/>
        </c:manualLayout>
      </c:layout>
      <c:pieChart>
        <c:varyColors val="1"/>
        <c:ser>
          <c:idx val="0"/>
          <c:order val="0"/>
          <c:tx>
            <c:strRef>
              <c:f>'Gráfico 2'!$C$4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345-44A1-99E1-4962A6A32E8F}"/>
              </c:ext>
            </c:extLst>
          </c:dPt>
          <c:dPt>
            <c:idx val="1"/>
            <c:bubble3D val="0"/>
            <c:spPr>
              <a:solidFill>
                <a:srgbClr val="70AD4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345-44A1-99E1-4962A6A32E8F}"/>
              </c:ext>
            </c:extLst>
          </c:dPt>
          <c:dPt>
            <c:idx val="2"/>
            <c:bubble3D val="0"/>
            <c:spPr>
              <a:solidFill>
                <a:srgbClr val="ED7D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345-44A1-99E1-4962A6A32E8F}"/>
              </c:ext>
            </c:extLst>
          </c:dPt>
          <c:dPt>
            <c:idx val="3"/>
            <c:bubble3D val="0"/>
            <c:spPr>
              <a:solidFill>
                <a:srgbClr val="59595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345-44A1-99E1-4962A6A32E8F}"/>
              </c:ext>
            </c:extLst>
          </c:dPt>
          <c:dPt>
            <c:idx val="4"/>
            <c:bubble3D val="0"/>
            <c:spPr>
              <a:solidFill>
                <a:srgbClr val="5D6D7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345-44A1-99E1-4962A6A32E8F}"/>
              </c:ext>
            </c:extLst>
          </c:dPt>
          <c:dPt>
            <c:idx val="5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345-44A1-99E1-4962A6A32E8F}"/>
              </c:ext>
            </c:extLst>
          </c:dPt>
          <c:dPt>
            <c:idx val="6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345-44A1-99E1-4962A6A32E8F}"/>
              </c:ext>
            </c:extLst>
          </c:dPt>
          <c:dLbls>
            <c:dLbl>
              <c:idx val="0"/>
              <c:layout>
                <c:manualLayout>
                  <c:x val="-5.8547127704871749E-2"/>
                  <c:y val="0.16954163419574356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345-44A1-99E1-4962A6A32E8F}"/>
                </c:ext>
              </c:extLst>
            </c:dLbl>
            <c:dLbl>
              <c:idx val="1"/>
              <c:layout>
                <c:manualLayout>
                  <c:x val="-9.8615653667347827E-2"/>
                  <c:y val="5.852598444711872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45-44A1-99E1-4962A6A32E8F}"/>
                </c:ext>
              </c:extLst>
            </c:dLbl>
            <c:dLbl>
              <c:idx val="2"/>
              <c:layout>
                <c:manualLayout>
                  <c:x val="-8.6141080721523003E-2"/>
                  <c:y val="-0.13427733906276054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345-44A1-99E1-4962A6A32E8F}"/>
                </c:ext>
              </c:extLst>
            </c:dLbl>
            <c:dLbl>
              <c:idx val="3"/>
              <c:layout>
                <c:manualLayout>
                  <c:x val="-2.6599976994516415E-3"/>
                  <c:y val="-0.18594014121688085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345-44A1-99E1-4962A6A32E8F}"/>
                </c:ext>
              </c:extLst>
            </c:dLbl>
            <c:dLbl>
              <c:idx val="4"/>
              <c:layout>
                <c:manualLayout>
                  <c:x val="8.8620530207784182E-2"/>
                  <c:y val="-0.15551506810821566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345-44A1-99E1-4962A6A32E8F}"/>
                </c:ext>
              </c:extLst>
            </c:dLbl>
            <c:dLbl>
              <c:idx val="5"/>
              <c:layout>
                <c:manualLayout>
                  <c:x val="9.9866039265438689E-2"/>
                  <c:y val="3.2382491620101983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345-44A1-99E1-4962A6A32E8F}"/>
                </c:ext>
              </c:extLst>
            </c:dLbl>
            <c:dLbl>
              <c:idx val="6"/>
              <c:layout>
                <c:manualLayout>
                  <c:x val="5.765454419171457E-2"/>
                  <c:y val="0.18309433570381975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345-44A1-99E1-4962A6A32E8F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EC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'Gráfico 2'!$B$5:$B$12</c:f>
              <c:strCache>
                <c:ptCount val="7"/>
                <c:pt idx="0">
                  <c:v>Arrependimento</c:v>
                </c:pt>
                <c:pt idx="1">
                  <c:v>Defeito no Produto</c:v>
                </c:pt>
                <c:pt idx="2">
                  <c:v>Desistência</c:v>
                </c:pt>
                <c:pt idx="3">
                  <c:v>Expectativa não atendida</c:v>
                </c:pt>
                <c:pt idx="4">
                  <c:v>Outros</c:v>
                </c:pt>
                <c:pt idx="5">
                  <c:v>Tamanho Inadequado</c:v>
                </c:pt>
                <c:pt idx="6">
                  <c:v>Troca</c:v>
                </c:pt>
              </c:strCache>
            </c:strRef>
          </c:cat>
          <c:val>
            <c:numRef>
              <c:f>'Gráfico 2'!$C$5:$C$12</c:f>
              <c:numCache>
                <c:formatCode>General</c:formatCode>
                <c:ptCount val="7"/>
                <c:pt idx="0">
                  <c:v>141</c:v>
                </c:pt>
                <c:pt idx="1">
                  <c:v>141</c:v>
                </c:pt>
                <c:pt idx="2">
                  <c:v>139</c:v>
                </c:pt>
                <c:pt idx="3">
                  <c:v>153</c:v>
                </c:pt>
                <c:pt idx="4">
                  <c:v>125</c:v>
                </c:pt>
                <c:pt idx="5">
                  <c:v>159</c:v>
                </c:pt>
                <c:pt idx="6">
                  <c:v>142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345-44A1-99E1-4962A6A32E8F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18371526494421"/>
          <c:y val="0.34555154415012673"/>
          <c:w val="0.18027075643295662"/>
          <c:h val="0.4309519434136920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EC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EC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[Semana3_Grupo6.xlsx]TablaDinámica 2!TablaDinámica6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C">
                <a:latin typeface="Arial" panose="020B0604020202020204" pitchFamily="34" charset="0"/>
                <a:cs typeface="Arial" panose="020B0604020202020204" pitchFamily="34" charset="0"/>
              </a:rPr>
              <a:t>Top 10 Clientes que más han gastado en compras en las diferentes tiendas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tx2">
              <a:lumMod val="50000"/>
              <a:lumOff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'TablaDinámica 2'!$C$4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DF1-4675-A800-1E8EE3112EE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1DF1-4675-A800-1E8EE3112EE3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DF1-4675-A800-1E8EE3112EE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1DF1-4675-A800-1E8EE3112EE3}"/>
              </c:ext>
            </c:extLst>
          </c:dPt>
          <c:dPt>
            <c:idx val="4"/>
            <c:invertIfNegative val="0"/>
            <c:bubble3D val="0"/>
            <c:spPr>
              <a:solidFill>
                <a:srgbClr val="5A7D9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DF1-4675-A800-1E8EE3112EE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DF1-4675-A800-1E8EE3112EE3}"/>
              </c:ext>
            </c:extLst>
          </c:dPt>
          <c:dPt>
            <c:idx val="6"/>
            <c:invertIfNegative val="0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rgbClr val="A6A6A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1DF1-4675-A800-1E8EE3112EE3}"/>
              </c:ext>
            </c:extLst>
          </c:dPt>
          <c:dPt>
            <c:idx val="7"/>
            <c:invertIfNegative val="0"/>
            <c:bubble3D val="0"/>
            <c:spPr>
              <a:solidFill>
                <a:srgbClr val="C9B3E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DF1-4675-A800-1E8EE3112EE3}"/>
              </c:ext>
            </c:extLst>
          </c:dPt>
          <c:dPt>
            <c:idx val="8"/>
            <c:invertIfNegative val="0"/>
            <c:bubble3D val="0"/>
            <c:spPr>
              <a:solidFill>
                <a:srgbClr val="F5CDA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1DF1-4675-A800-1E8EE3112EE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28575" cap="rnd">
                <a:solidFill>
                  <a:schemeClr val="bg2">
                    <a:lumMod val="50000"/>
                  </a:schemeClr>
                </a:solidFill>
                <a:prstDash val="sysDot"/>
              </a:ln>
              <a:effectLst/>
            </c:spPr>
            <c:trendlineType val="movingAvg"/>
            <c:period val="2"/>
            <c:dispRSqr val="0"/>
            <c:dispEq val="0"/>
          </c:trendline>
          <c:cat>
            <c:strRef>
              <c:f>'TablaDinámica 2'!$B$5:$B$15</c:f>
              <c:strCache>
                <c:ptCount val="10"/>
                <c:pt idx="0">
                  <c:v>Benedita Amaral</c:v>
                </c:pt>
                <c:pt idx="1">
                  <c:v>Mafalda Nascimento</c:v>
                </c:pt>
                <c:pt idx="2">
                  <c:v>Leandro Batista</c:v>
                </c:pt>
                <c:pt idx="3">
                  <c:v>Margarida Tavares</c:v>
                </c:pt>
                <c:pt idx="4">
                  <c:v>Vítor Andrade</c:v>
                </c:pt>
                <c:pt idx="5">
                  <c:v>Kyara Santos</c:v>
                </c:pt>
                <c:pt idx="6">
                  <c:v>César Mendes</c:v>
                </c:pt>
                <c:pt idx="7">
                  <c:v>Nicole Pires</c:v>
                </c:pt>
                <c:pt idx="8">
                  <c:v>Luís Silva</c:v>
                </c:pt>
                <c:pt idx="9">
                  <c:v>Luana Morais-Marques</c:v>
                </c:pt>
              </c:strCache>
            </c:strRef>
          </c:cat>
          <c:val>
            <c:numRef>
              <c:f>'TablaDinámica 2'!$C$5:$C$15</c:f>
              <c:numCache>
                <c:formatCode>"$"#,##0.00</c:formatCode>
                <c:ptCount val="10"/>
                <c:pt idx="0">
                  <c:v>1607176.3499999996</c:v>
                </c:pt>
                <c:pt idx="1">
                  <c:v>1422444.3000000003</c:v>
                </c:pt>
                <c:pt idx="2">
                  <c:v>1136637.29</c:v>
                </c:pt>
                <c:pt idx="3">
                  <c:v>1136082.48</c:v>
                </c:pt>
                <c:pt idx="4">
                  <c:v>1112705.2799999998</c:v>
                </c:pt>
                <c:pt idx="5">
                  <c:v>1086012.31</c:v>
                </c:pt>
                <c:pt idx="6">
                  <c:v>1059729.9500000002</c:v>
                </c:pt>
                <c:pt idx="7">
                  <c:v>1050750.58</c:v>
                </c:pt>
                <c:pt idx="8">
                  <c:v>1026844.7300000002</c:v>
                </c:pt>
                <c:pt idx="9">
                  <c:v>1005450.3099999998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F1-4675-A800-1E8EE3112EE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41893616"/>
        <c:axId val="441894096"/>
      </c:barChart>
      <c:catAx>
        <c:axId val="4418936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C"/>
                  <a:t>Clientes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441894096"/>
        <c:crosses val="autoZero"/>
        <c:auto val="1"/>
        <c:lblAlgn val="ctr"/>
        <c:lblOffset val="100"/>
        <c:noMultiLvlLbl val="0"/>
      </c:catAx>
      <c:valAx>
        <c:axId val="441894096"/>
        <c:scaling>
          <c:orientation val="minMax"/>
          <c:min val="10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441893616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4.830917874396135E-3"/>
                <c:y val="0.43805905218119118"/>
              </c:manualLayout>
            </c:layout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EC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solidFill>
            <a:schemeClr val="tx1"/>
          </a:solidFill>
        </a:defRPr>
      </a:pPr>
      <a:endParaRPr lang="es-EC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29E0F-7C45-4BD1-B874-FD3489C19137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5824C-CCE2-429A-A466-4A1F36F2C259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76734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7063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449F0-5DAA-898A-6CA3-8EB469A43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5F902C-9D76-1DCC-CBC1-29340651A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036EA1-DB06-B047-AE15-4886B26A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AC3F-ADFF-4BBF-B02D-9F0A9A8313CC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AC0201-9426-9CC4-75D8-8CCAAC5CC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43C8C5-9536-CFB6-312E-7BB18BD3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F14AD-5659-4399-94DD-CD9128A940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97148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B3D49-25A2-0DE7-D48B-A52D8EC64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F70C45-FCDC-601F-2028-A7C23A985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5BFC0E-4969-9A30-FA8B-A7EB6E46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AC3F-ADFF-4BBF-B02D-9F0A9A8313CC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6E4DE1-D45C-407D-EE46-EC62E025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EEA185-96CF-72E7-D785-BAD4E185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F14AD-5659-4399-94DD-CD9128A940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2710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79E09-72E2-B3AD-3CC9-A312C7F3F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E72C8D-BE85-DC82-D713-F64BCE6A0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4F0EB3-DDC0-7B11-2290-2E653CAC3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AC3F-ADFF-4BBF-B02D-9F0A9A8313CC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C3C54-C557-1C45-0237-0D25F334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C89211-6F5F-BBC7-B11E-D7DB522E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F14AD-5659-4399-94DD-CD9128A940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65104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BA904-FFD8-E668-1812-181F454E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821DFE-2104-1EA2-112A-11988C42F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9E8C0E-ECD0-9E3A-CA33-6B55F396D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14CECF-660A-953E-2B86-98B84B18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AC3F-ADFF-4BBF-B02D-9F0A9A8313CC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B6FFD2-83B0-5798-7A5C-5C99B20E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41C6942-B798-6236-2897-B4179542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F14AD-5659-4399-94DD-CD9128A940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1081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68BAE-AD18-6E66-D5B9-363DB1D3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1B9637-799F-C5C5-B768-AACB2D725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B2D193-75F7-3881-1E78-915369D1D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0D3DC6-9874-B11E-1935-DBEB8F0C6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D9EA4BF-3BC3-492F-77FC-9923A7E04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1925CAD-E770-E3B5-7698-44FAA10F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AC3F-ADFF-4BBF-B02D-9F0A9A8313CC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508DD8-43BC-AA5C-1A9A-5E89117EA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DE5769D-8EA5-2E8C-45D1-4389AD32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F14AD-5659-4399-94DD-CD9128A940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19966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4D05B-F07F-9D07-3228-6D9296E36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983C04B-D3F2-C3C7-F661-380D79EE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AC3F-ADFF-4BBF-B02D-9F0A9A8313CC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1C95E32-A95B-1CF2-3A1C-F05317833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08C87DF-AD02-965F-6207-B84853FF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F14AD-5659-4399-94DD-CD9128A940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55287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4E1092-8CCA-67C7-62EA-82C7B03F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AC3F-ADFF-4BBF-B02D-9F0A9A8313CC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4E1E4A-B82D-5AA0-C55C-A91B2898B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1477B5-04FE-7129-FB12-F1A82A013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F14AD-5659-4399-94DD-CD9128A940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6339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51241-B5F8-DCD7-2C4F-D3B4220FE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E0309A-9249-8FBE-AE60-E054A9804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825D3B-B86D-EE17-E6B8-B6FBE7A63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8F74AF-1D59-C589-BAAE-081156C4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AC3F-ADFF-4BBF-B02D-9F0A9A8313CC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3E20DA-9121-7090-3B8B-86214CCCC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C15B77-1872-3C7C-18D5-E6E3DEA50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F14AD-5659-4399-94DD-CD9128A940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90715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2ACE8-9494-D8C8-66CB-B80F2A175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F947F3F-B3DF-A463-9A33-59D8C9EA7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10AEE9-D292-C02A-880A-E7FBEAB21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737D2A-53C8-EDF4-71CB-77B258EEC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AC3F-ADFF-4BBF-B02D-9F0A9A8313CC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9E73D3-4495-B285-0D7B-146F17D02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58EBD1-98EA-95EA-BD9E-494AF9418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F14AD-5659-4399-94DD-CD9128A940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9315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37543-134D-DC96-A849-E91813C0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C67236-89E8-D181-0342-773AA3FF3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EE4CF2-1DF3-99FD-D8DC-8FFE967D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AC3F-ADFF-4BBF-B02D-9F0A9A8313CC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56B408-A08D-61D0-C87D-CF160D602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74507B-9723-783C-69CB-5105B6B5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F14AD-5659-4399-94DD-CD9128A940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0018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F0E436-8958-CE96-4365-DE7811ABD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8363F6-BA55-B6FA-8786-27A609600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A62C93-A7B0-217E-EE14-F440853C4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4AC3F-ADFF-4BBF-B02D-9F0A9A8313CC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F05926-B2F3-9FED-9913-5B038C44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D902E4-4B98-3B7F-8FFD-F2B15AAEC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F14AD-5659-4399-94DD-CD9128A940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7382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9944C4-5440-9267-D7A5-55CBB9369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D1437B-CB22-1D10-7826-67DC20565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1F5FB6-BB44-BC0C-7B57-4F7FFB515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4AC3F-ADFF-4BBF-B02D-9F0A9A8313CC}" type="datetimeFigureOut">
              <a:rPr lang="es-EC" smtClean="0"/>
              <a:t>22/8/2025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463640-DC1F-0A89-448B-79AC195E8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010D41-66F0-AEE8-8302-941D6126B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BF14AD-5659-4399-94DD-CD9128A94097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1933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5" name="Rectangle 334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Freeform: Shape 344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9" name="Google Shape;329;p35"/>
          <p:cNvSpPr txBox="1"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txBody>
          <a:bodyPr spcFirstLastPara="1" vert="horz" lIns="121900" tIns="121900" rIns="121900" bIns="121900" rtlCol="0" anchor="b" anchorCtr="0">
            <a:normAutofit/>
          </a:bodyPr>
          <a:lstStyle/>
          <a:p>
            <a:pPr algn="l">
              <a:spcBef>
                <a:spcPts val="0"/>
              </a:spcBef>
            </a:pPr>
            <a:r>
              <a:rPr lang="es-EC" sz="4800" b="1" dirty="0">
                <a:solidFill>
                  <a:srgbClr val="FFFFFF"/>
                </a:solidFill>
                <a:latin typeface="Arial"/>
                <a:cs typeface="Arial"/>
              </a:rPr>
              <a:t>PROYECTO</a:t>
            </a:r>
            <a:br>
              <a:rPr lang="es-EC" sz="4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C" sz="4800" b="1" dirty="0">
                <a:solidFill>
                  <a:srgbClr val="FFFFFF"/>
                </a:solidFill>
                <a:latin typeface="Arial"/>
                <a:cs typeface="Arial"/>
              </a:rPr>
              <a:t>INTEGRADOR:</a:t>
            </a:r>
            <a:br>
              <a:rPr lang="es-EC" sz="4800" b="1" dirty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s-EC" sz="4800" b="1" err="1">
                <a:solidFill>
                  <a:schemeClr val="bg1"/>
                </a:solidFill>
                <a:ea typeface="+mj-lt"/>
                <a:cs typeface="+mj-lt"/>
              </a:rPr>
              <a:t>Retail</a:t>
            </a:r>
            <a:r>
              <a:rPr lang="es-EC" sz="4800" b="1" dirty="0">
                <a:solidFill>
                  <a:schemeClr val="bg1"/>
                </a:solidFill>
                <a:ea typeface="+mj-lt"/>
                <a:cs typeface="+mj-lt"/>
              </a:rPr>
              <a:t> Business </a:t>
            </a:r>
            <a:r>
              <a:rPr lang="es-EC" sz="4800" b="1" err="1">
                <a:solidFill>
                  <a:schemeClr val="bg1"/>
                </a:solidFill>
                <a:ea typeface="+mj-lt"/>
                <a:cs typeface="+mj-lt"/>
              </a:rPr>
              <a:t>Intelligence</a:t>
            </a:r>
            <a:endParaRPr lang="es-EC" sz="4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1"/>
          </p:nvPr>
        </p:nvSpPr>
        <p:spPr>
          <a:xfrm>
            <a:off x="454712" y="4871575"/>
            <a:ext cx="4729825" cy="1458258"/>
          </a:xfrm>
          <a:prstGeom prst="rect">
            <a:avLst/>
          </a:prstGeom>
        </p:spPr>
        <p:txBody>
          <a:bodyPr spcFirstLastPara="1" vert="horz" lIns="121900" tIns="121900" rIns="121900" bIns="121900" rtlCol="0" anchor="ctr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EC" b="1" dirty="0">
                <a:latin typeface="Arial"/>
                <a:cs typeface="Arial"/>
              </a:rPr>
              <a:t>EXCEL FOR DATA ANALYTICS</a:t>
            </a:r>
            <a:br>
              <a:rPr lang="es-EC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" sz="2000" b="1" dirty="0">
                <a:latin typeface="Arial"/>
                <a:cs typeface="Arial"/>
              </a:rPr>
              <a:t>GRUPO #6</a:t>
            </a:r>
            <a:endParaRPr lang="es-EC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86FCDD40-A50D-B66D-89A5-0392E711A9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891" r="36103" b="245"/>
          <a:stretch>
            <a:fillRect/>
          </a:stretch>
        </p:blipFill>
        <p:spPr>
          <a:xfrm>
            <a:off x="6098049" y="4683708"/>
            <a:ext cx="29052" cy="1836887"/>
          </a:xfrm>
          <a:prstGeom prst="rect">
            <a:avLst/>
          </a:prstGeom>
        </p:spPr>
      </p:pic>
      <p:sp>
        <p:nvSpPr>
          <p:cNvPr id="4" name="Google Shape;330;p35">
            <a:extLst>
              <a:ext uri="{FF2B5EF4-FFF2-40B4-BE49-F238E27FC236}">
                <a16:creationId xmlns:a16="http://schemas.microsoft.com/office/drawing/2014/main" id="{DD6DF63B-2DF1-3299-06A3-A19796F8168B}"/>
              </a:ext>
            </a:extLst>
          </p:cNvPr>
          <p:cNvSpPr txBox="1">
            <a:spLocks/>
          </p:cNvSpPr>
          <p:nvPr/>
        </p:nvSpPr>
        <p:spPr>
          <a:xfrm>
            <a:off x="6963542" y="5062557"/>
            <a:ext cx="4729825" cy="1458258"/>
          </a:xfrm>
          <a:prstGeom prst="rect">
            <a:avLst/>
          </a:prstGeom>
        </p:spPr>
        <p:txBody>
          <a:bodyPr spcFirstLastPara="1" vert="horz" lIns="121900" tIns="121900" rIns="121900" bIns="121900"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EC" b="1" dirty="0">
                <a:latin typeface="Arial"/>
                <a:cs typeface="Arial"/>
              </a:rPr>
              <a:t>INTEGRANTES: </a:t>
            </a:r>
            <a:endParaRPr lang="en-US" sz="1800" dirty="0">
              <a:latin typeface="Aptos" panose="02110004020202020204"/>
              <a:cs typeface="Arial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EC" sz="1800" dirty="0">
                <a:latin typeface="Arial"/>
                <a:cs typeface="Arial"/>
              </a:rPr>
              <a:t>Abraham </a:t>
            </a:r>
            <a:r>
              <a:rPr lang="es-EC" sz="1800" dirty="0" err="1">
                <a:latin typeface="Arial"/>
                <a:cs typeface="Arial"/>
              </a:rPr>
              <a:t>Anzules</a:t>
            </a:r>
            <a:r>
              <a:rPr lang="es-EC" sz="1800" dirty="0">
                <a:latin typeface="Arial"/>
                <a:cs typeface="Arial"/>
              </a:rPr>
              <a:t>, Luis </a:t>
            </a:r>
            <a:r>
              <a:rPr lang="es-EC" sz="1800" dirty="0" err="1">
                <a:latin typeface="Arial"/>
                <a:cs typeface="Arial"/>
              </a:rPr>
              <a:t>Gonzalez</a:t>
            </a:r>
            <a:r>
              <a:rPr lang="es-EC" sz="1800" dirty="0">
                <a:latin typeface="Arial"/>
                <a:cs typeface="Arial"/>
              </a:rPr>
              <a:t>, Katherine Forero, José Morales, </a:t>
            </a:r>
            <a:r>
              <a:rPr lang="es-EC" sz="1800" dirty="0" err="1">
                <a:latin typeface="Arial"/>
                <a:cs typeface="Arial"/>
              </a:rPr>
              <a:t>Victor</a:t>
            </a:r>
            <a:r>
              <a:rPr lang="es-EC" sz="1800" dirty="0">
                <a:latin typeface="Arial"/>
                <a:cs typeface="Arial"/>
              </a:rPr>
              <a:t> Vivas.</a:t>
            </a:r>
            <a:endParaRPr lang="en-US" sz="18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s-EC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" grpId="0"/>
      <p:bldP spid="330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452E2-57F2-C113-48A0-0402CCAAE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B6174B-C23A-6A65-F7D3-6779C5CD6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4C7435-5BDF-CF8F-F471-17222A44D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041F5F-419C-9C89-B5F2-7619AFFBF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E05A4A-2BC6-79EB-CE48-B13C85454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CFB156-881F-5BCD-5DA9-380AEA6AC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C" sz="4000">
                <a:solidFill>
                  <a:srgbClr val="FFFFFF"/>
                </a:solidFill>
              </a:rPr>
              <a:t>Total de ventas por región</a:t>
            </a:r>
            <a:endParaRPr lang="en-US"/>
          </a:p>
        </p:txBody>
      </p:sp>
      <p:sp>
        <p:nvSpPr>
          <p:cNvPr id="3" name="Google Shape;347;p37">
            <a:extLst>
              <a:ext uri="{FF2B5EF4-FFF2-40B4-BE49-F238E27FC236}">
                <a16:creationId xmlns:a16="http://schemas.microsoft.com/office/drawing/2014/main" id="{1811BB4D-E1DA-C1AC-A838-34EE93361B2D}"/>
              </a:ext>
            </a:extLst>
          </p:cNvPr>
          <p:cNvSpPr txBox="1">
            <a:spLocks/>
          </p:cNvSpPr>
          <p:nvPr/>
        </p:nvSpPr>
        <p:spPr>
          <a:xfrm>
            <a:off x="595217" y="440329"/>
            <a:ext cx="694800" cy="694800"/>
          </a:xfrm>
          <a:prstGeom prst="rect">
            <a:avLst/>
          </a:prstGeom>
          <a:solidFill>
            <a:srgbClr val="D3E1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A41"/>
              </a:buClr>
              <a:buSzPts val="3000"/>
              <a:buFont typeface="Poppins"/>
              <a:buNone/>
              <a:tabLst/>
              <a:defRPr/>
            </a:pPr>
            <a:r>
              <a:rPr lang="en" kern="0">
                <a:solidFill>
                  <a:srgbClr val="202A41"/>
                </a:solidFill>
              </a:rPr>
              <a:t>01</a:t>
            </a:r>
            <a:endParaRPr kumimoji="0" lang="en" sz="3000" b="1" i="0" u="none" strike="noStrike" kern="0" cap="none" spc="0" normalizeH="0" baseline="0" noProof="0">
              <a:ln>
                <a:noFill/>
              </a:ln>
              <a:solidFill>
                <a:srgbClr val="202A41"/>
              </a:solidFill>
              <a:effectLst/>
              <a:uLnTx/>
              <a:uFillTx/>
              <a:latin typeface="Poppins"/>
              <a:cs typeface="Poppins"/>
              <a:sym typeface="Poppins"/>
            </a:endParaRPr>
          </a:p>
        </p:txBody>
      </p:sp>
      <p:graphicFrame>
        <p:nvGraphicFramePr>
          <p:cNvPr id="6" name="Marcador de contenido 3">
            <a:extLst>
              <a:ext uri="{FF2B5EF4-FFF2-40B4-BE49-F238E27FC236}">
                <a16:creationId xmlns:a16="http://schemas.microsoft.com/office/drawing/2014/main" id="{F2373A3C-6298-F3DC-C0C8-B5E55873AC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8384228"/>
              </p:ext>
            </p:extLst>
          </p:nvPr>
        </p:nvGraphicFramePr>
        <p:xfrm>
          <a:off x="894608" y="1672281"/>
          <a:ext cx="10866132" cy="4886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CFFD6CC6-E5F2-9C9F-9EB1-066C8D945D83}"/>
              </a:ext>
            </a:extLst>
          </p:cNvPr>
          <p:cNvSpPr txBox="1"/>
          <p:nvPr/>
        </p:nvSpPr>
        <p:spPr>
          <a:xfrm>
            <a:off x="8618705" y="6559670"/>
            <a:ext cx="32516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9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 </a:t>
            </a:r>
            <a:r>
              <a:rPr lang="es-MX" sz="900" b="1">
                <a:latin typeface="Arial" panose="020B0604020202020204" pitchFamily="34" charset="0"/>
                <a:cs typeface="Arial" panose="020B0604020202020204" pitchFamily="34" charset="0"/>
              </a:rPr>
              <a:t>Los valores están expresados en millones de dólares</a:t>
            </a:r>
            <a:endParaRPr lang="es-EC" sz="9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894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78118A-0F9E-ACB1-5E4F-6B25F1130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C" sz="4000">
                <a:solidFill>
                  <a:srgbClr val="FFFFFF"/>
                </a:solidFill>
              </a:rPr>
              <a:t>Devoluciones</a:t>
            </a:r>
          </a:p>
        </p:txBody>
      </p:sp>
      <p:sp>
        <p:nvSpPr>
          <p:cNvPr id="3" name="Google Shape;347;p37">
            <a:extLst>
              <a:ext uri="{FF2B5EF4-FFF2-40B4-BE49-F238E27FC236}">
                <a16:creationId xmlns:a16="http://schemas.microsoft.com/office/drawing/2014/main" id="{8290B2A1-22B6-009E-C1B2-94EC60D37F23}"/>
              </a:ext>
            </a:extLst>
          </p:cNvPr>
          <p:cNvSpPr txBox="1">
            <a:spLocks/>
          </p:cNvSpPr>
          <p:nvPr/>
        </p:nvSpPr>
        <p:spPr>
          <a:xfrm>
            <a:off x="595217" y="440329"/>
            <a:ext cx="694800" cy="694800"/>
          </a:xfrm>
          <a:prstGeom prst="rect">
            <a:avLst/>
          </a:prstGeom>
          <a:solidFill>
            <a:srgbClr val="D3E1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A41"/>
              </a:buClr>
              <a:buSzPts val="3000"/>
              <a:buFont typeface="Poppins"/>
              <a:buNone/>
              <a:tabLst/>
              <a:defRPr/>
            </a:pPr>
            <a:r>
              <a:rPr kumimoji="0" lang="en" sz="3000" b="1" i="0" u="none" strike="noStrike" kern="0" cap="none" spc="0" normalizeH="0" baseline="0" noProof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02</a:t>
            </a:r>
          </a:p>
        </p:txBody>
      </p:sp>
      <p:graphicFrame>
        <p:nvGraphicFramePr>
          <p:cNvPr id="12" name="Marcador de contenido 11">
            <a:extLst>
              <a:ext uri="{FF2B5EF4-FFF2-40B4-BE49-F238E27FC236}">
                <a16:creationId xmlns:a16="http://schemas.microsoft.com/office/drawing/2014/main" id="{DF422EFD-6537-B1E9-0CF6-EC043DE7F3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0991383"/>
              </p:ext>
            </p:extLst>
          </p:nvPr>
        </p:nvGraphicFramePr>
        <p:xfrm>
          <a:off x="838200" y="1825625"/>
          <a:ext cx="10929600" cy="41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16123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D1C500-4328-3D97-7177-DB5D7A975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C" sz="4000">
                <a:solidFill>
                  <a:srgbClr val="FFFFFF"/>
                </a:solidFill>
              </a:rPr>
              <a:t>Productos: Motivos de devolución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8CF6F2AB-6C55-3882-4A77-2D683A52DB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1031568"/>
              </p:ext>
            </p:extLst>
          </p:nvPr>
        </p:nvGraphicFramePr>
        <p:xfrm>
          <a:off x="644056" y="1721797"/>
          <a:ext cx="10927829" cy="4583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349;p37">
            <a:extLst>
              <a:ext uri="{FF2B5EF4-FFF2-40B4-BE49-F238E27FC236}">
                <a16:creationId xmlns:a16="http://schemas.microsoft.com/office/drawing/2014/main" id="{10ED0503-89E7-6DF9-CF93-3364307778F9}"/>
              </a:ext>
            </a:extLst>
          </p:cNvPr>
          <p:cNvSpPr txBox="1">
            <a:spLocks/>
          </p:cNvSpPr>
          <p:nvPr/>
        </p:nvSpPr>
        <p:spPr>
          <a:xfrm>
            <a:off x="595217" y="440329"/>
            <a:ext cx="694800" cy="694800"/>
          </a:xfrm>
          <a:prstGeom prst="rect">
            <a:avLst/>
          </a:prstGeom>
          <a:solidFill>
            <a:srgbClr val="D3E1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A41"/>
              </a:buClr>
              <a:buSzPts val="3000"/>
              <a:buFont typeface="Poppins"/>
              <a:buNone/>
              <a:tabLst/>
              <a:defRPr/>
            </a:pPr>
            <a:r>
              <a:rPr kumimoji="0" lang="en" sz="3000" b="1" i="0" u="none" strike="noStrike" kern="0" cap="none" spc="0" normalizeH="0" baseline="0" noProof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1410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6757B1-1606-23A3-6D89-728AF2C59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C" sz="4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Ranking clientes </a:t>
            </a:r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FD55A551-11C6-333B-01A5-47E35D77B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473672"/>
              </p:ext>
            </p:extLst>
          </p:nvPr>
        </p:nvGraphicFramePr>
        <p:xfrm>
          <a:off x="321013" y="1825625"/>
          <a:ext cx="11527276" cy="4683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Google Shape;346;p37">
            <a:extLst>
              <a:ext uri="{FF2B5EF4-FFF2-40B4-BE49-F238E27FC236}">
                <a16:creationId xmlns:a16="http://schemas.microsoft.com/office/drawing/2014/main" id="{36C2F5A6-9C32-5FBE-2C99-AD884DF29761}"/>
              </a:ext>
            </a:extLst>
          </p:cNvPr>
          <p:cNvSpPr txBox="1">
            <a:spLocks/>
          </p:cNvSpPr>
          <p:nvPr/>
        </p:nvSpPr>
        <p:spPr>
          <a:xfrm>
            <a:off x="595217" y="440329"/>
            <a:ext cx="694800" cy="694800"/>
          </a:xfrm>
          <a:prstGeom prst="rect">
            <a:avLst/>
          </a:prstGeom>
          <a:solidFill>
            <a:srgbClr val="D3E1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A41"/>
              </a:buClr>
              <a:buSzPts val="3000"/>
              <a:buFont typeface="Poppins"/>
              <a:buNone/>
              <a:tabLst/>
              <a:defRPr/>
            </a:pPr>
            <a:r>
              <a:rPr kumimoji="0" lang="en" sz="3000" b="1" i="0" u="none" strike="noStrike" kern="0" cap="none" spc="0" normalizeH="0" baseline="0" noProof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71865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8FE844-C955-DBCD-981E-440767DA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31FA8E-129D-9E95-EA01-44EBB2670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EBB87F-E6BE-4637-101B-C2E51A799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D2E4FA-E97D-DC8E-ABCD-584EF9368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692F70-7E8A-C566-4A7B-D1DE200F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700EEE-F69D-50AD-CF81-71F6FE2A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EC" sz="4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 / </a:t>
            </a:r>
            <a:r>
              <a:rPr lang="es-EC" sz="400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  <a:endParaRPr lang="es-EC" sz="40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346;p37">
            <a:extLst>
              <a:ext uri="{FF2B5EF4-FFF2-40B4-BE49-F238E27FC236}">
                <a16:creationId xmlns:a16="http://schemas.microsoft.com/office/drawing/2014/main" id="{58D7D37D-544C-3D21-6385-C9982CA43701}"/>
              </a:ext>
            </a:extLst>
          </p:cNvPr>
          <p:cNvSpPr txBox="1">
            <a:spLocks/>
          </p:cNvSpPr>
          <p:nvPr/>
        </p:nvSpPr>
        <p:spPr>
          <a:xfrm>
            <a:off x="595217" y="440329"/>
            <a:ext cx="694800" cy="694800"/>
          </a:xfrm>
          <a:prstGeom prst="rect">
            <a:avLst/>
          </a:prstGeom>
          <a:solidFill>
            <a:srgbClr val="D3E1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A41"/>
              </a:buClr>
              <a:buSzPts val="3000"/>
              <a:buFont typeface="Poppins"/>
              <a:buNone/>
              <a:tabLst/>
              <a:defRPr/>
            </a:pPr>
            <a:r>
              <a:rPr kumimoji="0" lang="en" sz="3000" b="1" i="0" u="none" strike="noStrike" kern="0" cap="none" spc="0" normalizeH="0" baseline="0" noProof="0">
                <a:ln>
                  <a:noFill/>
                </a:ln>
                <a:solidFill>
                  <a:srgbClr val="202A41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05</a:t>
            </a:r>
          </a:p>
        </p:txBody>
      </p:sp>
      <p:graphicFrame>
        <p:nvGraphicFramePr>
          <p:cNvPr id="336" name="Google Shape;336;p36"/>
          <p:cNvGraphicFramePr/>
          <p:nvPr>
            <p:extLst>
              <p:ext uri="{D42A27DB-BD31-4B8C-83A1-F6EECF244321}">
                <p14:modId xmlns:p14="http://schemas.microsoft.com/office/powerpoint/2010/main" val="1120821591"/>
              </p:ext>
            </p:extLst>
          </p:nvPr>
        </p:nvGraphicFramePr>
        <p:xfrm>
          <a:off x="1936102" y="2302597"/>
          <a:ext cx="8224326" cy="26898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6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081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Centro</a:t>
                      </a:r>
                      <a:endParaRPr sz="1400" b="1" i="0" u="sng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Poppins"/>
                      </a:endParaRPr>
                    </a:p>
                  </a:txBody>
                  <a:tcPr marL="121900" marR="121900" marT="121900" marB="121900" anchor="ctr">
                    <a:lnL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Esta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región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concentra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más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302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millones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ventas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superando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mucho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 Alentejo y Algarve. Esto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evidencia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fuerte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dependencia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las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ventas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 zona Centro.</a:t>
                      </a:r>
                      <a:endPara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Poppins"/>
                        <a:cs typeface="Arial" panose="020B0604020202020204" pitchFamily="34" charset="0"/>
                        <a:sym typeface="Poppins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87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Modi</a:t>
                      </a:r>
                      <a:endParaRPr sz="1400" b="1" i="0" u="sng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Poppins"/>
                      </a:endParaRPr>
                    </a:p>
                  </a:txBody>
                  <a:tcPr marL="121900" marR="121900" marT="121900" marB="121900" anchor="ctr">
                    <a:lnL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product Modi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idera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las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devoluciones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 54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unidades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seguido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productos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cifras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cercanas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(39–43). Las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devoluciones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concentran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estos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articulos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lo que se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necesita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análisis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riguroso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situación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crítica</a:t>
                      </a:r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Poppins"/>
                        <a:cs typeface="Arial" panose="020B0604020202020204" pitchFamily="34" charset="0"/>
                        <a:sym typeface="Poppins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87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Benedita Amaral y Mafalda Nascimento</a:t>
                      </a:r>
                      <a:endParaRPr sz="1400" b="1" i="0" u="sng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Poppins"/>
                      </a:endParaRPr>
                    </a:p>
                  </a:txBody>
                  <a:tcPr marL="121900" marR="121900" marT="121900" marB="121900" anchor="ctr">
                    <a:lnL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MX" sz="120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Poppins"/>
                          <a:cs typeface="Arial" panose="020B0604020202020204" pitchFamily="34" charset="0"/>
                          <a:sym typeface="Poppins"/>
                        </a:rPr>
                        <a:t>Ambos clientes se concentran entre los que mayor gasto registran en las diferentes tiendas con más de $1,4 millones cada una, muy por encima del resto. Por otro lado, los demás clientes mantienen un rango cercano al millón.</a:t>
                      </a:r>
                      <a:endParaRPr sz="120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Poppins"/>
                        <a:cs typeface="Arial" panose="020B0604020202020204" pitchFamily="34" charset="0"/>
                        <a:sym typeface="Poppins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1223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Tema de Office</vt:lpstr>
      <vt:lpstr>PROYECTO INTEGRADOR: Retail Business Intelligence</vt:lpstr>
      <vt:lpstr>Total de ventas por región</vt:lpstr>
      <vt:lpstr>Devoluciones</vt:lpstr>
      <vt:lpstr>Productos: Motivos de devolución</vt:lpstr>
      <vt:lpstr>Ranking clientes </vt:lpstr>
      <vt:lpstr>Conclusiones /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INTEGRADOR</dc:title>
  <dc:creator>Jose  Morales</dc:creator>
  <cp:revision>131</cp:revision>
  <dcterms:created xsi:type="dcterms:W3CDTF">2025-08-22T19:59:10Z</dcterms:created>
  <dcterms:modified xsi:type="dcterms:W3CDTF">2025-08-23T04:32:09Z</dcterms:modified>
</cp:coreProperties>
</file>